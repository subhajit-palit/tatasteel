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3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32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3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01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6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36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0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64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9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38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008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93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044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001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639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12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0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1409A"/>
                </a:solidFill>
              </a:defRPr>
            </a:pPr>
            <a:r>
              <a:t>Actual Temperature Prediction</a:t>
            </a:r>
            <a:br/>
            <a:r>
              <a:t>Using Machine Learning</a:t>
            </a:r>
          </a:p>
          <a:p>
            <a:br/>
            <a:r>
              <a:t>TATA Steel Internship Project</a:t>
            </a:r>
            <a:br/>
            <a:r>
              <a:t>Subhajit Palit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755" y="588167"/>
            <a:ext cx="6798734" cy="1303867"/>
          </a:xfrm>
        </p:spPr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rPr dirty="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23023"/>
            <a:ext cx="6798736" cy="3444997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Accurate temperature prediction is critical in Basic Oxygen Furnace (BOF) steelmaking</a:t>
            </a:r>
            <a:r>
              <a:rPr lang="en-US" dirty="0"/>
              <a:t> because it directly influences the quality of the final steel product, energy efficiency, and process stability, with poor temperature control leading to defects and increased rework. </a:t>
            </a:r>
          </a:p>
          <a:p>
            <a:r>
              <a:rPr lang="en-US" dirty="0"/>
              <a:t>Traditionally, operators in steel plants estimate endpoint temperatures manually based on experience and basic process measurements, which often leads to </a:t>
            </a:r>
            <a:r>
              <a:rPr lang="en-US" b="1" dirty="0"/>
              <a:t>quality variations and inconsistent results</a:t>
            </a:r>
            <a:r>
              <a:rPr lang="en-US" dirty="0"/>
              <a:t>. </a:t>
            </a:r>
          </a:p>
          <a:p>
            <a:r>
              <a:rPr lang="en-US" dirty="0"/>
              <a:t>To address this challenge, researchers and engineers are applying </a:t>
            </a:r>
            <a:r>
              <a:rPr lang="en-US" b="1" dirty="0"/>
              <a:t>machine learning models</a:t>
            </a:r>
            <a:r>
              <a:rPr lang="en-US" dirty="0"/>
              <a:t> to predict the actual temperature (ACT_TEMP) at key points in the BOF process using large historical datasets of process parameters and sensor readings. Advanced algorithms such as </a:t>
            </a:r>
            <a:r>
              <a:rPr lang="en-US" b="1" dirty="0"/>
              <a:t>ensemble methods (e.g., </a:t>
            </a:r>
            <a:r>
              <a:rPr lang="en-US" b="1" dirty="0" err="1"/>
              <a:t>XGBoost</a:t>
            </a:r>
            <a:r>
              <a:rPr lang="en-US" b="1" dirty="0"/>
              <a:t>, </a:t>
            </a:r>
            <a:r>
              <a:rPr lang="en-US" b="1" dirty="0" err="1"/>
              <a:t>LightGBM</a:t>
            </a:r>
            <a:r>
              <a:rPr lang="en-US" b="1" dirty="0"/>
              <a:t>, </a:t>
            </a:r>
            <a:r>
              <a:rPr lang="en-US" b="1" dirty="0" err="1"/>
              <a:t>CatBoost</a:t>
            </a:r>
            <a:r>
              <a:rPr lang="en-US" b="1" dirty="0"/>
              <a:t>), random forests, support vector regression (SVR), and neural networks</a:t>
            </a:r>
            <a:r>
              <a:rPr lang="en-US" dirty="0"/>
              <a:t> have been evaluated for predicting endpoint temperature with much higher accuracy than manual estimation. </a:t>
            </a:r>
          </a:p>
          <a:p>
            <a:r>
              <a:rPr lang="en-US" dirty="0"/>
              <a:t>These data-driven models can capture nonlinear relationships between process inputs (like hot metal composition, oxygen flow, and slag chemistry) and temperature, improving prediction accuracy often within tight error bands (e.g., within ±10-20 °C) compared to older approaches. </a:t>
            </a:r>
          </a:p>
          <a:p>
            <a:r>
              <a:rPr lang="en-US" dirty="0"/>
              <a:t>The </a:t>
            </a:r>
            <a:r>
              <a:rPr lang="en-US" b="1" dirty="0"/>
              <a:t>objective</a:t>
            </a:r>
            <a:r>
              <a:rPr lang="en-US" dirty="0"/>
              <a:t> of this project is therefore to develop and compare machine learning models that accurately predict ACT_TEMP in BOF steelmaking, reducing quality variations, lowering the need for rework, and enabling better process control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6"/>
            <a:ext cx="6798736" cy="1703796"/>
          </a:xfrm>
        </p:spPr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rPr lang="en-IN" dirty="0"/>
              <a:t>Basic Oxygen Furnace (BOF) process dataset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lang="en-IN" dirty="0"/>
              <a:t>17,000+ heats, 50+ process variables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lang="en-IN" dirty="0"/>
              <a:t>Includes chemical composition, material inputs, temperatures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lang="en-IN" dirty="0"/>
              <a:t>Target Variable: ACT_TEMP (Actual Temperature)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t>Data Preprocessing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Removed invalid ACT_TEMP values (sensor error = 0)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Handled missing values using mean imputation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Dropped CASTNO and timestamp columns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Ensured data consistency using domain knowledge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1409A"/>
                </a:solidFill>
              </a:defRPr>
            </a:pPr>
            <a:r>
              <a:t>Data Loading &amp; Cleaning (Code)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423" y="243547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  <a:latin typeface="Consolas"/>
              </a:defRPr>
            </a:pPr>
            <a:r>
              <a:rPr dirty="0"/>
              <a:t>import pandas as pd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pd.read_excel</a:t>
            </a:r>
            <a:r>
              <a:rPr dirty="0"/>
              <a:t>("BOF_Data1.xlsx")</a:t>
            </a:r>
            <a:br>
              <a:rPr dirty="0"/>
            </a:br>
            <a:br>
              <a:rPr dirty="0"/>
            </a:br>
            <a:r>
              <a:rPr dirty="0"/>
              <a:t># Remove invalid temperature values</a:t>
            </a:r>
            <a:br>
              <a:rPr dirty="0"/>
            </a:b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["ACT_TEMP"] &gt; 1000]</a:t>
            </a:r>
            <a:br>
              <a:rPr dirty="0"/>
            </a:br>
            <a:br>
              <a:rPr dirty="0"/>
            </a:br>
            <a:r>
              <a:rPr dirty="0"/>
              <a:t># Drop non-informative columns</a:t>
            </a:r>
            <a:br>
              <a:rPr dirty="0"/>
            </a:br>
            <a:r>
              <a:rPr dirty="0" err="1"/>
              <a:t>df.drop</a:t>
            </a:r>
            <a:r>
              <a:rPr dirty="0"/>
              <a:t>(columns=["CASTNO", "TAP_END"], </a:t>
            </a:r>
            <a:r>
              <a:rPr dirty="0" err="1"/>
              <a:t>inplace</a:t>
            </a:r>
            <a:r>
              <a:rPr dirty="0"/>
              <a:t>=True)</a:t>
            </a:r>
            <a:br>
              <a:rPr dirty="0"/>
            </a:br>
            <a:br>
              <a:rPr dirty="0"/>
            </a:br>
            <a:r>
              <a:rPr dirty="0"/>
              <a:t># Handle missing values</a:t>
            </a:r>
            <a:br>
              <a:rPr dirty="0"/>
            </a:br>
            <a:r>
              <a:rPr dirty="0" err="1"/>
              <a:t>df.fillna</a:t>
            </a:r>
            <a:r>
              <a:rPr dirty="0"/>
              <a:t>(</a:t>
            </a:r>
            <a:r>
              <a:rPr dirty="0" err="1"/>
              <a:t>df.mean</a:t>
            </a:r>
            <a:r>
              <a:rPr dirty="0"/>
              <a:t>(), </a:t>
            </a:r>
            <a:r>
              <a:rPr dirty="0" err="1"/>
              <a:t>inplace</a:t>
            </a:r>
            <a:r>
              <a:rPr dirty="0"/>
              <a:t>=True)</a:t>
            </a:r>
            <a:br>
              <a:rPr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1409A"/>
                </a:solidFill>
              </a:defRPr>
            </a:pPr>
            <a:r>
              <a:t>Feature Selection &amp; Split (Code)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538" y="2581397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br>
              <a:rPr dirty="0"/>
            </a:br>
            <a:br>
              <a:rPr dirty="0"/>
            </a:br>
            <a:r>
              <a:rPr dirty="0"/>
              <a:t>X = </a:t>
            </a:r>
            <a:r>
              <a:rPr dirty="0" err="1"/>
              <a:t>df.drop</a:t>
            </a:r>
            <a:r>
              <a:rPr dirty="0"/>
              <a:t>(columns=["ACT_TEMP"])</a:t>
            </a:r>
            <a:br>
              <a:rPr dirty="0"/>
            </a:br>
            <a:r>
              <a:rPr dirty="0"/>
              <a:t>y = </a:t>
            </a:r>
            <a:r>
              <a:rPr dirty="0" err="1"/>
              <a:t>df</a:t>
            </a:r>
            <a:r>
              <a:rPr dirty="0"/>
              <a:t>["ACT_TEMP"]</a:t>
            </a:r>
            <a:br>
              <a:rPr dirty="0"/>
            </a:br>
            <a:br>
              <a:rPr dirty="0"/>
            </a:b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</a:t>
            </a:r>
            <a:br>
              <a:rPr dirty="0"/>
            </a:br>
            <a:r>
              <a:rPr dirty="0"/>
              <a:t>    X, y, </a:t>
            </a:r>
            <a:r>
              <a:rPr dirty="0" err="1"/>
              <a:t>test_size</a:t>
            </a:r>
            <a:r>
              <a:rPr dirty="0"/>
              <a:t>=0.2, </a:t>
            </a:r>
            <a:r>
              <a:rPr dirty="0" err="1"/>
              <a:t>random_state</a:t>
            </a:r>
            <a:r>
              <a:rPr dirty="0"/>
              <a:t>=42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1409A"/>
                </a:solidFill>
              </a:defRPr>
            </a:pPr>
            <a:r>
              <a:t>Model Training – Random Forest (Code)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2854" y="2581397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sklearn.ensemble</a:t>
            </a:r>
            <a:r>
              <a:rPr dirty="0"/>
              <a:t> import </a:t>
            </a:r>
            <a:r>
              <a:rPr dirty="0" err="1"/>
              <a:t>RandomForestRegressor</a:t>
            </a:r>
            <a:br>
              <a:rPr dirty="0"/>
            </a:br>
            <a:br>
              <a:rPr dirty="0"/>
            </a:br>
            <a:r>
              <a:rPr dirty="0"/>
              <a:t>rf = </a:t>
            </a:r>
            <a:r>
              <a:rPr dirty="0" err="1"/>
              <a:t>RandomForestRegressor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n_estimators</a:t>
            </a:r>
            <a:r>
              <a:rPr dirty="0"/>
              <a:t>=500,</a:t>
            </a:r>
            <a:br>
              <a:rPr dirty="0"/>
            </a:br>
            <a:r>
              <a:rPr dirty="0"/>
              <a:t>    </a:t>
            </a:r>
            <a:r>
              <a:rPr dirty="0" err="1"/>
              <a:t>max_depth</a:t>
            </a:r>
            <a:r>
              <a:rPr dirty="0"/>
              <a:t>=20,</a:t>
            </a:r>
            <a:br>
              <a:rPr dirty="0"/>
            </a:br>
            <a:r>
              <a:rPr dirty="0"/>
              <a:t>    </a:t>
            </a:r>
            <a:r>
              <a:rPr dirty="0" err="1"/>
              <a:t>random_state</a:t>
            </a:r>
            <a:r>
              <a:rPr dirty="0"/>
              <a:t>=42,</a:t>
            </a:r>
            <a:br>
              <a:rPr dirty="0"/>
            </a:br>
            <a:r>
              <a:rPr dirty="0"/>
              <a:t>    </a:t>
            </a:r>
            <a:r>
              <a:rPr dirty="0" err="1"/>
              <a:t>n_jobs</a:t>
            </a:r>
            <a:r>
              <a:rPr dirty="0"/>
              <a:t>=-1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rf.fit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  <a:br>
              <a:rPr dirty="0"/>
            </a:br>
            <a:r>
              <a:rPr dirty="0" err="1"/>
              <a:t>y_pred</a:t>
            </a:r>
            <a:r>
              <a:rPr dirty="0"/>
              <a:t> = </a:t>
            </a:r>
            <a:r>
              <a:rPr dirty="0" err="1"/>
              <a:t>rf.predict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  <a:br>
              <a:rPr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Metrics used: MAE, RMSE, R² Score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Random Forest significantly outperformed Linear Regression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Model captured non-linear industrial relationships effectively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vs Predicted Temperature</a:t>
            </a:r>
          </a:p>
        </p:txBody>
      </p:sp>
      <p:pic>
        <p:nvPicPr>
          <p:cNvPr id="3" name="Picture 2" descr="71c8c01c-143d-48bc-96da-ab79cdceb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683" y="2614691"/>
            <a:ext cx="6224633" cy="3423165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Influencing Process Parameters</a:t>
            </a:r>
          </a:p>
        </p:txBody>
      </p:sp>
      <p:pic>
        <p:nvPicPr>
          <p:cNvPr id="3" name="Picture 2" descr="f84484f0-f3f1-41df-9806-713d9bc00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6" y="2415231"/>
            <a:ext cx="6798734" cy="3859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t>Sample Prediction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Predicted Temperature: 1638.5 °C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Actual Temperature: 1626 °C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Prediction error is within acceptable industrial tolerance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t>Conclusion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ML models can reliably predict BOF temperature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Random Forest suitable for complex steelmaking data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Supports process optimization and quality consistency at TATA Steel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1409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Use advanced models like XGBoost / LightGBM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Real-time integration with BOF automation systems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Deployment as decision-support dashboard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Continuous learning using live plant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239</TotalTime>
  <Words>694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PowerPoint Presentation</vt:lpstr>
      <vt:lpstr>Business Problem</vt:lpstr>
      <vt:lpstr>Dataset Overview</vt:lpstr>
      <vt:lpstr>Data Preprocessing Strategy</vt:lpstr>
      <vt:lpstr>Data Loading &amp; Cleaning (Code)</vt:lpstr>
      <vt:lpstr>Feature Selection &amp; Split (Code)</vt:lpstr>
      <vt:lpstr>Model Training – Random Forest (Code)</vt:lpstr>
      <vt:lpstr>Model Evaluation</vt:lpstr>
      <vt:lpstr>Actual vs Predicted Temperature</vt:lpstr>
      <vt:lpstr>Key Influencing Process Parameters</vt:lpstr>
      <vt:lpstr>Sample Prediction Outcome</vt:lpstr>
      <vt:lpstr>Conclusion &amp; Business Value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subhajitpalit219@gmail.com</cp:lastModifiedBy>
  <cp:revision>5</cp:revision>
  <dcterms:created xsi:type="dcterms:W3CDTF">2013-01-27T09:14:16Z</dcterms:created>
  <dcterms:modified xsi:type="dcterms:W3CDTF">2026-01-09T15:00:09Z</dcterms:modified>
  <cp:category/>
</cp:coreProperties>
</file>